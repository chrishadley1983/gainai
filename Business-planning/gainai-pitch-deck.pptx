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solidFill>
            <a:srgbClr val="00E87B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-1371600"/>
            <a:ext cx="3657600" cy="3657600"/>
          </a:xfrm>
          <a:prstGeom prst="ellipse">
            <a:avLst/>
          </a:prstGeom>
          <a:solidFill>
            <a:srgbClr val="00E87B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48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algn="ctr" indent="0" marL="0">
              <a:buNone/>
            </a:pPr>
            <a:r>
              <a:rPr lang="en-US" sz="4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Visibility Management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Get found by more local customers on Google Search &amp; Maps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383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gainai.co.uk  |  hello@gainai.co.uk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393192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0D2E1C"/>
          </a:solidFill>
          <a:ln w="6350">
            <a:solidFill>
              <a:srgbClr val="00E8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3931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Automation for UK Businesses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customers are searching for you on Google right now. Can they find you?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06040" cy="256032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2606040" cy="36576"/>
          </a:xfrm>
          <a:prstGeom prst="rect">
            <a:avLst/>
          </a:prstGeom>
          <a:solidFill>
            <a:srgbClr val="00E87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4231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94360" y="3200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Google searches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have local intent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645920"/>
            <a:ext cx="2606040" cy="256032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10" name="Shape 7"/>
          <p:cNvSpPr/>
          <p:nvPr/>
        </p:nvSpPr>
        <p:spPr>
          <a:xfrm>
            <a:off x="3291840" y="1645920"/>
            <a:ext cx="2606040" cy="36576"/>
          </a:xfrm>
          <a:prstGeom prst="rect">
            <a:avLst/>
          </a:prstGeom>
          <a:solidFill>
            <a:srgbClr val="00E87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9659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4231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3429000" y="3200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clicks go to the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 map pack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645920"/>
            <a:ext cx="2606040" cy="256032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15" name="Shape 11"/>
          <p:cNvSpPr/>
          <p:nvPr/>
        </p:nvSpPr>
        <p:spPr>
          <a:xfrm>
            <a:off x="6126480" y="1645920"/>
            <a:ext cx="2606040" cy="36576"/>
          </a:xfrm>
          <a:prstGeom prst="rect">
            <a:avLst/>
          </a:prstGeom>
          <a:solidFill>
            <a:srgbClr val="00E87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4231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8" name="Text 13"/>
          <p:cNvSpPr/>
          <p:nvPr/>
        </p:nvSpPr>
        <p:spPr>
          <a:xfrm>
            <a:off x="6263640" y="3200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businesses shown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the top results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6576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buNone/>
            </a:pPr>
            <a:r>
              <a:rPr lang="en-US" sz="9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749808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gainai.co.uk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Your Google Profile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Google ranks local results on three factors. The businesses that appear aren't necessarily the best — they're the ones that actively manage their profile.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06040" cy="1463040"/>
          </a:xfrm>
          <a:prstGeom prst="rect">
            <a:avLst/>
          </a:prstGeom>
          <a:solidFill>
            <a:srgbClr val="17171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2651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well your profile matches the search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828800"/>
            <a:ext cx="2606040" cy="1463040"/>
          </a:xfrm>
          <a:prstGeom prst="rect">
            <a:avLst/>
          </a:prstGeom>
          <a:solidFill>
            <a:srgbClr val="17171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0116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429000" y="2651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close you are to the searcher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26480" y="1828800"/>
            <a:ext cx="2606040" cy="1463040"/>
          </a:xfrm>
          <a:prstGeom prst="rect">
            <a:avLst/>
          </a:prstGeom>
          <a:solidFill>
            <a:srgbClr val="17171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0116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364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Prominence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263640" y="2651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trusted and active your business appears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0D2E1C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566160"/>
            <a:ext cx="54864" cy="914400"/>
          </a:xfrm>
          <a:prstGeom prst="rect">
            <a:avLst/>
          </a:prstGeom>
          <a:solidFill>
            <a:srgbClr val="00E87B"/>
          </a:solidFill>
          <a:ln/>
        </p:spPr>
      </p:sp>
      <p:sp>
        <p:nvSpPr>
          <p:cNvPr id="18" name="Text 13"/>
          <p:cNvSpPr/>
          <p:nvPr/>
        </p:nvSpPr>
        <p:spPr>
          <a:xfrm>
            <a:off x="731520" y="35661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Most of your competitors aren't doing this. The bar is low, and consistent effort produces outsized results. Businesses with weekly posts get up to 7x more clicks than inactive profiles.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6576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buNone/>
            </a:pPr>
            <a:r>
              <a:rPr lang="en-US" sz="9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749808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gainai.co.uk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manage your Google Business Profile so you don't have to.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463040"/>
          </a:xfrm>
          <a:prstGeom prst="rect">
            <a:avLst/>
          </a:prstGeom>
          <a:solidFill>
            <a:srgbClr val="17171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Posts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2148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Keyword-optimised content published 3–7 times per week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91840" y="1371600"/>
            <a:ext cx="2606040" cy="1463040"/>
          </a:xfrm>
          <a:prstGeom prst="rect">
            <a:avLst/>
          </a:prstGeom>
          <a:solidFill>
            <a:srgbClr val="17171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5544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Management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429000" y="2148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Professional responses to every customer review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126480" y="1371600"/>
            <a:ext cx="2606040" cy="1463040"/>
          </a:xfrm>
          <a:prstGeom prst="rect">
            <a:avLst/>
          </a:prstGeom>
          <a:solidFill>
            <a:srgbClr val="17171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544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364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Updates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263640" y="2148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Fresh images to keep your profile engaging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" y="3063240"/>
            <a:ext cx="2606040" cy="1463040"/>
          </a:xfrm>
          <a:prstGeom prst="rect">
            <a:avLst/>
          </a:prstGeom>
          <a:solidFill>
            <a:srgbClr val="17171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461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9436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94360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Clear monthly insights on views, clicks, and calls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291840" y="3063240"/>
            <a:ext cx="2606040" cy="1463040"/>
          </a:xfrm>
          <a:prstGeom prst="rect">
            <a:avLst/>
          </a:prstGeom>
          <a:solidFill>
            <a:srgbClr val="17171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24612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42900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Management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429000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Pre-populated answers to common questions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126480" y="3063240"/>
            <a:ext cx="2606040" cy="1463040"/>
          </a:xfrm>
          <a:prstGeom prst="rect">
            <a:avLst/>
          </a:prstGeom>
          <a:solidFill>
            <a:srgbClr val="171717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24612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26364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Monitoring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263640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Stay ahead of local competition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36576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buNone/>
            </a:pPr>
            <a:r>
              <a:rPr lang="en-US" sz="9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749808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gainai.co.uk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0" y="274320"/>
            <a:ext cx="2468880" cy="1097280"/>
          </a:xfrm>
          <a:prstGeom prst="rect">
            <a:avLst/>
          </a:prstGeom>
          <a:solidFill>
            <a:srgbClr val="0D2E1C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20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Time Commitment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37960" y="594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 mins one-time setup call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mins/month to approve 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That's it.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15-minute call to understand your business, customers, and goals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822960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128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22128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441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produce a full month of posts tailored to your brand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822960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7121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28712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Approve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099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 see everything before it goes live — nothing is published without your sign-off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38144"/>
            <a:ext cx="822960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295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35295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&amp; Schedule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7581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handle all posting directly to your Google Business Profile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96512"/>
            <a:ext cx="822960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879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97280" y="4187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Optimise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44165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Monthly insights and continuous improvement of your local visibility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buNone/>
            </a:pPr>
            <a:r>
              <a:rPr lang="en-US" sz="9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gainai.co.uk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&amp; Pricing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Month-to-month. No long-term contracts. Cancel anytime.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56616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£59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/month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posts/week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228600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44368"/>
            <a:ext cx="164592" cy="1645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Keyword-optimised posts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91840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3273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Professional images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39312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36210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scheduling &amp; publishing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86784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680" y="39684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Profile completeness audit</a:t>
            </a:r>
            <a:endParaRPr lang="en-US" sz="9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334256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68680" y="4315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Monthly activity summary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3337560" y="1188720"/>
            <a:ext cx="2651760" cy="356616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1" name="Shape 14"/>
          <p:cNvSpPr/>
          <p:nvPr/>
        </p:nvSpPr>
        <p:spPr>
          <a:xfrm>
            <a:off x="3337560" y="1188720"/>
            <a:ext cx="2651760" cy="36576"/>
          </a:xfrm>
          <a:prstGeom prst="rect">
            <a:avLst/>
          </a:prstGeom>
          <a:solidFill>
            <a:srgbClr val="00E87B"/>
          </a:solidFill>
          <a:ln/>
        </p:spPr>
      </p:sp>
      <p:sp>
        <p:nvSpPr>
          <p:cNvPr id="22" name="Shape 15"/>
          <p:cNvSpPr/>
          <p:nvPr/>
        </p:nvSpPr>
        <p:spPr>
          <a:xfrm>
            <a:off x="3886200" y="1261872"/>
            <a:ext cx="1554480" cy="256032"/>
          </a:xfrm>
          <a:prstGeom prst="rect">
            <a:avLst/>
          </a:prstGeom>
          <a:solidFill>
            <a:srgbClr val="00E87B"/>
          </a:solidFill>
          <a:ln/>
        </p:spPr>
      </p:sp>
      <p:sp>
        <p:nvSpPr>
          <p:cNvPr id="23" name="Text 16"/>
          <p:cNvSpPr/>
          <p:nvPr/>
        </p:nvSpPr>
        <p:spPr>
          <a:xfrm>
            <a:off x="3886200" y="12618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700" dirty="0"/>
          </a:p>
        </p:txBody>
      </p:sp>
      <p:sp>
        <p:nvSpPr>
          <p:cNvPr id="24" name="Text 17"/>
          <p:cNvSpPr/>
          <p:nvPr/>
        </p:nvSpPr>
        <p:spPr>
          <a:xfrm>
            <a:off x="352044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3520440" y="1965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£99</a:t>
            </a:r>
            <a:endParaRPr lang="en-US" sz="3600" dirty="0"/>
          </a:p>
        </p:txBody>
      </p:sp>
      <p:sp>
        <p:nvSpPr>
          <p:cNvPr id="26" name="Text 19"/>
          <p:cNvSpPr/>
          <p:nvPr/>
        </p:nvSpPr>
        <p:spPr>
          <a:xfrm>
            <a:off x="470916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/month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3520440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posts/week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3520440" y="2788920"/>
            <a:ext cx="228600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2944368"/>
            <a:ext cx="164592" cy="16459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749040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Everything in Starter</a:t>
            </a:r>
            <a:endParaRPr lang="en-US" sz="95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3291840"/>
            <a:ext cx="164592" cy="16459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749040" y="3273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Offer &amp; event posts</a:t>
            </a:r>
            <a:endParaRPr lang="en-US" sz="9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0440" y="3639312"/>
            <a:ext cx="164592" cy="16459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749040" y="36210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Monthly performance report</a:t>
            </a:r>
            <a:endParaRPr lang="en-US" sz="95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0440" y="3986784"/>
            <a:ext cx="164592" cy="16459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3749040" y="39684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 response drafts</a:t>
            </a:r>
            <a:endParaRPr lang="en-US" sz="95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0440" y="4334256"/>
            <a:ext cx="164592" cy="164592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3749040" y="4315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Keyword research &amp; tracking</a:t>
            </a:r>
            <a:endParaRPr lang="en-US" sz="950" dirty="0"/>
          </a:p>
        </p:txBody>
      </p:sp>
      <p:sp>
        <p:nvSpPr>
          <p:cNvPr id="39" name="Shape 27"/>
          <p:cNvSpPr/>
          <p:nvPr/>
        </p:nvSpPr>
        <p:spPr>
          <a:xfrm>
            <a:off x="6217920" y="1188720"/>
            <a:ext cx="2651760" cy="356616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40" name="Text 28"/>
          <p:cNvSpPr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800" dirty="0"/>
          </a:p>
        </p:txBody>
      </p:sp>
      <p:sp>
        <p:nvSpPr>
          <p:cNvPr id="41" name="Text 29"/>
          <p:cNvSpPr/>
          <p:nvPr/>
        </p:nvSpPr>
        <p:spPr>
          <a:xfrm>
            <a:off x="6400800" y="1965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£149</a:t>
            </a:r>
            <a:endParaRPr lang="en-US" sz="3600" dirty="0"/>
          </a:p>
        </p:txBody>
      </p:sp>
      <p:sp>
        <p:nvSpPr>
          <p:cNvPr id="42" name="Text 30"/>
          <p:cNvSpPr/>
          <p:nvPr/>
        </p:nvSpPr>
        <p:spPr>
          <a:xfrm>
            <a:off x="758952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/month</a:t>
            </a:r>
            <a:endParaRPr lang="en-US" sz="1000" dirty="0"/>
          </a:p>
        </p:txBody>
      </p:sp>
      <p:sp>
        <p:nvSpPr>
          <p:cNvPr id="43" name="Text 31"/>
          <p:cNvSpPr/>
          <p:nvPr/>
        </p:nvSpPr>
        <p:spPr>
          <a:xfrm>
            <a:off x="6400800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Daily posts</a:t>
            </a:r>
            <a:endParaRPr lang="en-US" sz="1100" dirty="0"/>
          </a:p>
        </p:txBody>
      </p:sp>
      <p:sp>
        <p:nvSpPr>
          <p:cNvPr id="44" name="Shape 32"/>
          <p:cNvSpPr/>
          <p:nvPr/>
        </p:nvSpPr>
        <p:spPr>
          <a:xfrm>
            <a:off x="6400800" y="2788920"/>
            <a:ext cx="228600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2944368"/>
            <a:ext cx="164592" cy="164592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6629400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Everything in Growth</a:t>
            </a:r>
            <a:endParaRPr lang="en-US" sz="950" dirty="0"/>
          </a:p>
        </p:txBody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3291840"/>
            <a:ext cx="164592" cy="164592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6629400" y="3273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Q&amp;A management</a:t>
            </a:r>
            <a:endParaRPr lang="en-US" sz="950" dirty="0"/>
          </a:p>
        </p:txBody>
      </p:sp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3639312"/>
            <a:ext cx="164592" cy="164592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6629400" y="36210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Quarterly strategy call</a:t>
            </a:r>
            <a:endParaRPr lang="en-US" sz="950" dirty="0"/>
          </a:p>
        </p:txBody>
      </p:sp>
      <p:pic>
        <p:nvPicPr>
          <p:cNvPr id="5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986784"/>
            <a:ext cx="164592" cy="164592"/>
          </a:xfrm>
          <a:prstGeom prst="rect">
            <a:avLst/>
          </a:prstGeom>
        </p:spPr>
      </p:pic>
      <p:sp>
        <p:nvSpPr>
          <p:cNvPr id="52" name="Text 36"/>
          <p:cNvSpPr/>
          <p:nvPr/>
        </p:nvSpPr>
        <p:spPr>
          <a:xfrm>
            <a:off x="6629400" y="39684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Photo sourcing</a:t>
            </a:r>
            <a:endParaRPr lang="en-US" sz="950" dirty="0"/>
          </a:p>
        </p:txBody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4334256"/>
            <a:ext cx="164592" cy="164592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6629400" y="4315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Competitor monitoring</a:t>
            </a:r>
            <a:endParaRPr lang="en-US" sz="950" dirty="0"/>
          </a:p>
        </p:txBody>
      </p:sp>
      <p:sp>
        <p:nvSpPr>
          <p:cNvPr id="55" name="Text 38"/>
          <p:cNvSpPr/>
          <p:nvPr/>
        </p:nvSpPr>
        <p:spPr>
          <a:xfrm>
            <a:off x="36576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buNone/>
            </a:pPr>
            <a:r>
              <a:rPr lang="en-US" sz="9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  <p:sp>
        <p:nvSpPr>
          <p:cNvPr id="56" name="Text 39"/>
          <p:cNvSpPr/>
          <p:nvPr/>
        </p:nvSpPr>
        <p:spPr>
          <a:xfrm>
            <a:off x="749808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gainai.co.uk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0"/>
            <a:ext cx="5486400" cy="3657600"/>
          </a:xfrm>
          <a:prstGeom prst="ellipse">
            <a:avLst/>
          </a:prstGeom>
          <a:solidFill>
            <a:srgbClr val="00E87B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on Investment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your average customer is worth £50, you need just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extra customers per month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cover the cost of this service entirely.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606040" cy="1463040"/>
          </a:xfrm>
          <a:prstGeom prst="rect">
            <a:avLst/>
          </a:prstGeom>
          <a:solidFill>
            <a:srgbClr val="17171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9260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3246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Visibility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3520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Increased profile views within 4–8 weeks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2743200"/>
            <a:ext cx="2606040" cy="1463040"/>
          </a:xfrm>
          <a:prstGeom prst="rect">
            <a:avLst/>
          </a:prstGeom>
          <a:solidFill>
            <a:srgbClr val="17171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9260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3246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Customers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29000" y="3520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Higher calls, clicks, and direction requests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2743200"/>
            <a:ext cx="2606040" cy="1463040"/>
          </a:xfrm>
          <a:prstGeom prst="rect">
            <a:avLst/>
          </a:prstGeom>
          <a:solidFill>
            <a:srgbClr val="17171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9260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3246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Lasting Value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63640" y="3520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Content and reviews compound over time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6576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buNone/>
            </a:pPr>
            <a:r>
              <a:rPr lang="en-US" sz="9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749808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gainai.co.uk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Us Different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16002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600200"/>
          </a:xfrm>
          <a:prstGeom prst="rect">
            <a:avLst/>
          </a:prstGeom>
          <a:solidFill>
            <a:srgbClr val="00E87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5544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Contracts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18288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Month-to-month. We earn your business every month. If we're not delivering results, you can leave.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005840"/>
            <a:ext cx="3977640" cy="16002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9" name="Shape 6"/>
          <p:cNvSpPr/>
          <p:nvPr/>
        </p:nvSpPr>
        <p:spPr>
          <a:xfrm>
            <a:off x="4663440" y="1005840"/>
            <a:ext cx="54864" cy="1600200"/>
          </a:xfrm>
          <a:prstGeom prst="rect">
            <a:avLst/>
          </a:prstGeom>
          <a:solidFill>
            <a:srgbClr val="00E87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5544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Everything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892040" y="18288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you cancel, all content, reviews, and optimisations stay on your profile. Nothing is held hostage.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834640"/>
            <a:ext cx="3977640" cy="16002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14" name="Shape 10"/>
          <p:cNvSpPr/>
          <p:nvPr/>
        </p:nvSpPr>
        <p:spPr>
          <a:xfrm>
            <a:off x="457200" y="2834640"/>
            <a:ext cx="54864" cy="1600200"/>
          </a:xfrm>
          <a:prstGeom prst="rect">
            <a:avLst/>
          </a:prstGeom>
          <a:solidFill>
            <a:srgbClr val="00E87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632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5800" y="33832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Expertise, Not Templates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85800" y="36576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post is crafted for your specific business and local market. No cookie-cutter content.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834640"/>
            <a:ext cx="3977640" cy="16002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19" name="Shape 14"/>
          <p:cNvSpPr/>
          <p:nvPr/>
        </p:nvSpPr>
        <p:spPr>
          <a:xfrm>
            <a:off x="4663440" y="2834640"/>
            <a:ext cx="54864" cy="1600200"/>
          </a:xfrm>
          <a:prstGeom prst="rect">
            <a:avLst/>
          </a:prstGeom>
          <a:solidFill>
            <a:srgbClr val="00E87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0632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92040" y="33832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Reporting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4892040" y="36576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You'll see exactly what's happening with clear, jargon-free monthly reports.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36576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buNone/>
            </a:pPr>
            <a:r>
              <a:rPr lang="en-US" sz="9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749808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gainai.co.uk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256032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1920240" cy="36576"/>
          </a:xfrm>
          <a:prstGeom prst="rect">
            <a:avLst/>
          </a:prstGeom>
          <a:solidFill>
            <a:srgbClr val="00E87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Profile Audit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review your current Google profile and show you the opportunities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1920240" cy="256032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9" name="Shape 7"/>
          <p:cNvSpPr/>
          <p:nvPr/>
        </p:nvSpPr>
        <p:spPr>
          <a:xfrm>
            <a:off x="2606040" y="1097280"/>
            <a:ext cx="1920240" cy="36576"/>
          </a:xfrm>
          <a:prstGeom prst="rect">
            <a:avLst/>
          </a:prstGeom>
          <a:solidFill>
            <a:srgbClr val="00E87B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74320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Package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331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Pick Starter, Growth, or Premium — no pressure, no upselling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1920240" cy="256032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097280"/>
            <a:ext cx="1920240" cy="36576"/>
          </a:xfrm>
          <a:prstGeom prst="rect">
            <a:avLst/>
          </a:prstGeom>
          <a:solidFill>
            <a:srgbClr val="00E87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89204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331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 minutes to understand your business and goals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03720" y="1097280"/>
            <a:ext cx="1920240" cy="256032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19" name="Shape 17"/>
          <p:cNvSpPr/>
          <p:nvPr/>
        </p:nvSpPr>
        <p:spPr>
          <a:xfrm>
            <a:off x="6903720" y="1097280"/>
            <a:ext cx="1920240" cy="36576"/>
          </a:xfrm>
          <a:prstGeom prst="rect">
            <a:avLst/>
          </a:prstGeom>
          <a:solidFill>
            <a:srgbClr val="00E87B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04088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Get to Work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2331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First content ready for review within 5 working days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0" y="3931920"/>
            <a:ext cx="4572000" cy="548640"/>
          </a:xfrm>
          <a:prstGeom prst="rect">
            <a:avLst/>
          </a:prstGeom>
          <a:solidFill>
            <a:srgbClr val="00E87B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0" y="39319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your free profile audit today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6576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buNone/>
            </a:pPr>
            <a:r>
              <a:rPr lang="en-US" sz="9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indent="0" marL="0"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gainai.co.uk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00E87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1097280"/>
            <a:ext cx="3291840" cy="3291840"/>
          </a:xfrm>
          <a:prstGeom prst="ellipse">
            <a:avLst/>
          </a:prstGeom>
          <a:solidFill>
            <a:srgbClr val="00E87B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You Found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Book your free Google Business Profile audit and see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exactly where the opportunities are for your business.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6350">
            <a:solidFill>
              <a:srgbClr val="40404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320040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17520" y="3172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hello@gainai.co.uk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56616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17520" y="3538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gainai.co.uk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2000" b="1" dirty="0">
                <a:solidFill>
                  <a:srgbClr val="00E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algn="ctr"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Gain time. Gain reach. Gain AI.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GainAI — Local Visibility Management Service</dc:title>
  <dc:subject>PptxGenJS Presentation</dc:subject>
  <dc:creator>GainAI</dc:creator>
  <cp:lastModifiedBy>GainAI</cp:lastModifiedBy>
  <cp:revision>1</cp:revision>
  <dcterms:created xsi:type="dcterms:W3CDTF">2026-02-15T16:27:42Z</dcterms:created>
  <dcterms:modified xsi:type="dcterms:W3CDTF">2026-02-15T16:27:42Z</dcterms:modified>
</cp:coreProperties>
</file>